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5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20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76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5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9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87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85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1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62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9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72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4827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37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37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60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52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8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24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cBioPortal for Cancer Genomics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2000"/>
            </a:pPr>
            <a:r>
              <a:rPr dirty="0"/>
              <a:t>Exploring, Visualizing, and Analyzing Cancer Genomic Data</a:t>
            </a:r>
          </a:p>
          <a:p>
            <a:pPr algn="l">
              <a:defRPr sz="2000"/>
            </a:pPr>
            <a:r>
              <a:rPr dirty="0"/>
              <a:t>Presented by: </a:t>
            </a:r>
            <a:r>
              <a:rPr lang="en-GB" dirty="0" err="1"/>
              <a:t>aqsa</a:t>
            </a:r>
            <a:r>
              <a:rPr lang="en-GB" dirty="0"/>
              <a:t> </a:t>
            </a:r>
            <a:r>
              <a:rPr lang="en-GB" dirty="0" err="1"/>
              <a:t>umer</a:t>
            </a:r>
            <a:r>
              <a:rPr lang="en-GB" dirty="0"/>
              <a:t> </a:t>
            </a:r>
            <a:endParaRPr dirty="0"/>
          </a:p>
          <a:p>
            <a:pPr algn="l">
              <a:defRPr sz="2000"/>
            </a:pPr>
            <a:r>
              <a:rPr dirty="0"/>
              <a:t>Department </a:t>
            </a:r>
            <a:r>
              <a:rPr lang="en-GB" dirty="0"/>
              <a:t>:biotechnology and bioinformatics </a:t>
            </a:r>
            <a:endParaRPr dirty="0"/>
          </a:p>
          <a:p>
            <a:pPr algn="l">
              <a:defRPr sz="2000"/>
            </a:pPr>
            <a:r>
              <a:rPr dirty="0"/>
              <a:t>Date: </a:t>
            </a:r>
            <a:r>
              <a:rPr lang="en-GB" dirty="0"/>
              <a:t>22 may</a:t>
            </a:r>
            <a:endParaRPr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DF64495F-2F54-3D63-B3A7-C63B014AB5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54"/>
    </mc:Choice>
    <mc:Fallback>
      <p:transition spd="slow" advTm="102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Introduction to cBioPortal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Open-access platform for cancer genomics research</a:t>
            </a:r>
          </a:p>
          <a:p>
            <a:pPr algn="l">
              <a:defRPr sz="2000"/>
            </a:pPr>
            <a:r>
              <a:t>Provides visualization and analysis of cancer datasets</a:t>
            </a:r>
          </a:p>
          <a:p>
            <a:pPr algn="l">
              <a:defRPr sz="2000"/>
            </a:pPr>
            <a:r>
              <a:t>Supports researchers, clinicians, and students</a:t>
            </a:r>
          </a:p>
          <a:p>
            <a:pPr algn="l">
              <a:defRPr sz="2000"/>
            </a:pPr>
            <a:r>
              <a:t>Integrates clinical and genomic data</a:t>
            </a:r>
          </a:p>
          <a:p>
            <a:pPr algn="l">
              <a:defRPr sz="2000"/>
            </a:pPr>
            <a:r>
              <a:t>Widely used in precision medicine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6BDB0817-0BAF-4E41-C939-2A53F61F3F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462"/>
    </mc:Choice>
    <mc:Fallback>
      <p:transition spd="slow" advTm="244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History and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Developed at Memorial Sloan Kettering Cancer Center</a:t>
            </a:r>
          </a:p>
          <a:p>
            <a:pPr algn="l">
              <a:defRPr sz="2000"/>
            </a:pPr>
            <a:r>
              <a:t>Collaboration with Dana-Farber Cancer Institute</a:t>
            </a:r>
          </a:p>
          <a:p>
            <a:pPr algn="l">
              <a:defRPr sz="2000"/>
            </a:pPr>
            <a:r>
              <a:t>Initially created for TCGA projects</a:t>
            </a:r>
          </a:p>
          <a:p>
            <a:pPr algn="l">
              <a:defRPr sz="2000"/>
            </a:pPr>
            <a:r>
              <a:t>Continuously updated with public datasets</a:t>
            </a:r>
          </a:p>
          <a:p>
            <a:pPr algn="l">
              <a:defRPr sz="2000"/>
            </a:pPr>
            <a:r>
              <a:t>Used globally in cancer research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2F319214-D933-4E61-9127-F3E4F0ED2A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850"/>
    </mc:Choice>
    <mc:Fallback>
      <p:transition spd="slow" advTm="448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Main Features of cBioPortal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Visualization of genomic alterations</a:t>
            </a:r>
          </a:p>
          <a:p>
            <a:pPr algn="l">
              <a:defRPr sz="2000"/>
            </a:pPr>
            <a:r>
              <a:t>Mutation analysis and gene profiling</a:t>
            </a:r>
          </a:p>
          <a:p>
            <a:pPr algn="l">
              <a:defRPr sz="2000"/>
            </a:pPr>
            <a:r>
              <a:t>Survival analysis tools</a:t>
            </a:r>
          </a:p>
          <a:p>
            <a:pPr algn="l">
              <a:defRPr sz="2000"/>
            </a:pPr>
            <a:r>
              <a:t>Clinical correlation studies</a:t>
            </a:r>
          </a:p>
          <a:p>
            <a:pPr algn="l">
              <a:defRPr sz="2000"/>
            </a:pPr>
            <a:r>
              <a:t>Interactive graphs and charts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62BF9440-52EC-1E23-2BFC-A475172F15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999"/>
    </mc:Choice>
    <mc:Fallback>
      <p:transition spd="slow" advTm="169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Types of Data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rPr dirty="0"/>
              <a:t>DNA mutations</a:t>
            </a:r>
          </a:p>
          <a:p>
            <a:pPr algn="l">
              <a:defRPr sz="2000"/>
            </a:pPr>
            <a:r>
              <a:rPr dirty="0"/>
              <a:t>Copy number alterations (CNA)</a:t>
            </a:r>
          </a:p>
          <a:p>
            <a:pPr algn="l">
              <a:defRPr sz="2000"/>
            </a:pPr>
            <a:r>
              <a:rPr dirty="0"/>
              <a:t>mRNA expression data</a:t>
            </a:r>
          </a:p>
          <a:p>
            <a:pPr algn="l">
              <a:defRPr sz="2000"/>
            </a:pPr>
            <a:r>
              <a:rPr dirty="0"/>
              <a:t>Protein expression data</a:t>
            </a:r>
          </a:p>
          <a:p>
            <a:pPr algn="l">
              <a:defRPr sz="2000"/>
            </a:pPr>
            <a:r>
              <a:rPr dirty="0"/>
              <a:t>Clinical patient records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6322F67C-7F5D-8361-24E2-B88F7E3A2D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186"/>
    </mc:Choice>
    <mc:Fallback>
      <p:transition spd="slow" advTm="331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How cBioPortal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User selects a cancer study</a:t>
            </a:r>
          </a:p>
          <a:p>
            <a:pPr algn="l">
              <a:defRPr sz="2000"/>
            </a:pPr>
            <a:r>
              <a:t>Genes of interest are entered</a:t>
            </a:r>
          </a:p>
          <a:p>
            <a:pPr algn="l">
              <a:defRPr sz="2000"/>
            </a:pPr>
            <a:r>
              <a:t>Platform retrieves genomic data</a:t>
            </a:r>
          </a:p>
          <a:p>
            <a:pPr algn="l">
              <a:defRPr sz="2000"/>
            </a:pPr>
            <a:r>
              <a:t>Results shown using plots and charts</a:t>
            </a:r>
          </a:p>
          <a:p>
            <a:pPr algn="l">
              <a:defRPr sz="2000"/>
            </a:pPr>
            <a:r>
              <a:t>Data can be exported for research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7A24774-3325-5F3E-7CA0-6E938D0B5F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332"/>
    </mc:Choice>
    <mc:Fallback>
      <p:transition spd="slow" advTm="423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Understanding OncoPrint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Graphical summary of genomic alterations</a:t>
            </a:r>
          </a:p>
          <a:p>
            <a:pPr algn="l">
              <a:defRPr sz="2000"/>
            </a:pPr>
            <a:r>
              <a:t>Displays mutations across patient samples</a:t>
            </a:r>
          </a:p>
          <a:p>
            <a:pPr algn="l">
              <a:defRPr sz="2000"/>
            </a:pPr>
            <a:r>
              <a:t>Identifies frequently altered genes</a:t>
            </a:r>
          </a:p>
          <a:p>
            <a:pPr algn="l">
              <a:defRPr sz="2000"/>
            </a:pPr>
            <a:r>
              <a:t>Supports precision oncology research</a:t>
            </a:r>
          </a:p>
          <a:p>
            <a:pPr algn="l">
              <a:defRPr sz="2000"/>
            </a:pPr>
            <a:r>
              <a:t>Shows mutation, deletion, amplification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AF6295CA-69DC-12E4-4CAE-CA7797E2EA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653"/>
    </mc:Choice>
    <mc:Fallback>
      <p:transition spd="slow" advTm="236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Clinical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Helps identify tumor genetic changes</a:t>
            </a:r>
          </a:p>
          <a:p>
            <a:pPr algn="l">
              <a:defRPr sz="2000"/>
            </a:pPr>
            <a:r>
              <a:t>Supports personalized treatment</a:t>
            </a:r>
          </a:p>
          <a:p>
            <a:pPr algn="l">
              <a:defRPr sz="2000"/>
            </a:pPr>
            <a:r>
              <a:t>Assists biomarker discovery</a:t>
            </a:r>
          </a:p>
          <a:p>
            <a:pPr algn="l">
              <a:defRPr sz="2000"/>
            </a:pPr>
            <a:r>
              <a:t>Used in targeted therapy research</a:t>
            </a:r>
          </a:p>
          <a:p>
            <a:pPr algn="l">
              <a:defRPr sz="2000"/>
            </a:pPr>
            <a:r>
              <a:t>Supports prognosis prediction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EE7D2078-A6BE-7DC9-7641-9DD02506DA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73"/>
    </mc:Choice>
    <mc:Fallback>
      <p:transition spd="slow" advTm="1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Research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Identifies cancer-related genes</a:t>
            </a:r>
          </a:p>
          <a:p>
            <a:pPr algn="l">
              <a:defRPr sz="2000"/>
            </a:pPr>
            <a:r>
              <a:t>Supports comparative genomics</a:t>
            </a:r>
          </a:p>
          <a:p>
            <a:pPr algn="l">
              <a:defRPr sz="2000"/>
            </a:pPr>
            <a:r>
              <a:t>Helps discover therapeutic targets</a:t>
            </a:r>
          </a:p>
          <a:p>
            <a:pPr algn="l">
              <a:defRPr sz="2000"/>
            </a:pPr>
            <a:r>
              <a:t>Used by bioinformaticians and oncologists</a:t>
            </a:r>
          </a:p>
          <a:p>
            <a:pPr algn="l">
              <a:defRPr sz="2000"/>
            </a:pPr>
            <a:r>
              <a:t>Useful in pharmaceutical research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B9C423E0-B54F-27B1-9915-ABBD918891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138"/>
    </mc:Choice>
    <mc:Fallback>
      <p:transition spd="slow" advTm="491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Advantages of cBioPortal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Free and publicly accessible</a:t>
            </a:r>
          </a:p>
          <a:p>
            <a:pPr algn="l">
              <a:defRPr sz="2000"/>
            </a:pPr>
            <a:r>
              <a:t>Easy for beginners and experts</a:t>
            </a:r>
          </a:p>
          <a:p>
            <a:pPr algn="l">
              <a:defRPr sz="2000"/>
            </a:pPr>
            <a:r>
              <a:t>Integrates multiple cancer datasets</a:t>
            </a:r>
          </a:p>
          <a:p>
            <a:pPr algn="l">
              <a:defRPr sz="2000"/>
            </a:pPr>
            <a:r>
              <a:t>Saves research time</a:t>
            </a:r>
          </a:p>
          <a:p>
            <a:pPr algn="l">
              <a:defRPr sz="2000"/>
            </a:pPr>
            <a:r>
              <a:t>Interactive visual analytics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01A12DAF-C402-9453-E015-E08D25716B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031"/>
    </mc:Choice>
    <mc:Fallback>
      <p:transition spd="slow" advTm="340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Limitations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2000"/>
            </a:pPr>
            <a:r>
              <a:t>Dependent on available datasets</a:t>
            </a:r>
          </a:p>
          <a:p>
            <a:pPr algn="l">
              <a:defRPr sz="2000"/>
            </a:pPr>
            <a:r>
              <a:t>Some studies have incomplete information</a:t>
            </a:r>
          </a:p>
          <a:p>
            <a:pPr algn="l">
              <a:defRPr sz="2000"/>
            </a:pPr>
            <a:r>
              <a:t>Advanced analysis requires expertise</a:t>
            </a:r>
          </a:p>
          <a:p>
            <a:pPr algn="l">
              <a:defRPr sz="2000"/>
            </a:pPr>
            <a:r>
              <a:t>Data interpretation can be complex</a:t>
            </a:r>
          </a:p>
          <a:p>
            <a:pPr algn="l">
              <a:defRPr sz="2000"/>
            </a:pPr>
            <a:r>
              <a:t>Patient privacy considerations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1FDEDCA-91D5-2A79-2165-6EF70FC4DF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679"/>
    </mc:Choice>
    <mc:Fallback>
      <p:transition spd="slow" advTm="486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Future Scope of cBioPortal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t>Integration with AI and machine learning</a:t>
            </a:r>
          </a:p>
          <a:p>
            <a:pPr algn="l">
              <a:defRPr sz="2000"/>
            </a:pPr>
            <a:r>
              <a:t>Expansion of global cancer datasets</a:t>
            </a:r>
          </a:p>
          <a:p>
            <a:pPr algn="l">
              <a:defRPr sz="2000"/>
            </a:pPr>
            <a:r>
              <a:t>Improved visualization technologies</a:t>
            </a:r>
          </a:p>
          <a:p>
            <a:pPr algn="l">
              <a:defRPr sz="2000"/>
            </a:pPr>
            <a:r>
              <a:t>Enhanced precision medicine support</a:t>
            </a:r>
          </a:p>
          <a:p>
            <a:pPr algn="l">
              <a:defRPr sz="2000"/>
            </a:pPr>
            <a:r>
              <a:t>Better clinical decision support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51BCA10A-D725-773C-55B0-2D9DA5A3A6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344"/>
    </mc:Choice>
    <mc:Fallback>
      <p:transition spd="slow" advTm="343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/>
            </a:pPr>
            <a:r>
              <a:rPr dirty="0" err="1"/>
              <a:t>cBioPortal</a:t>
            </a:r>
            <a:r>
              <a:rPr dirty="0"/>
              <a:t> simplifies cancer genomic analysis</a:t>
            </a:r>
          </a:p>
          <a:p>
            <a:pPr algn="l">
              <a:defRPr sz="2000"/>
            </a:pPr>
            <a:r>
              <a:rPr dirty="0"/>
              <a:t>Supports research and clinical decisions</a:t>
            </a:r>
          </a:p>
          <a:p>
            <a:pPr algn="l">
              <a:defRPr sz="2000"/>
            </a:pPr>
            <a:r>
              <a:rPr dirty="0"/>
              <a:t>Widely used in precision oncology</a:t>
            </a:r>
          </a:p>
          <a:p>
            <a:pPr marL="0" indent="0" algn="l">
              <a:buNone/>
              <a:defRPr sz="2000"/>
            </a:pPr>
            <a:endParaRPr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CD378741-B1DB-1C0B-D9F7-EF3C370AF9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84528" t="-81922" r="-184528" b="-81922"/>
          <a:stretch>
            <a:fillRect/>
          </a:stretch>
        </p:blipFill>
        <p:spPr>
          <a:xfrm>
            <a:off x="6858000" y="5357812"/>
            <a:ext cx="2286000" cy="1285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665"/>
    </mc:Choice>
    <mc:Fallback>
      <p:transition spd="slow" advTm="556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321</Words>
  <Application>Microsoft Office PowerPoint</Application>
  <PresentationFormat>On-screen Show (4:3)</PresentationFormat>
  <Paragraphs>75</Paragraphs>
  <Slides>13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cBioPortal for Cancer Genomics</vt:lpstr>
      <vt:lpstr>Introduction to cBioPortal</vt:lpstr>
      <vt:lpstr>History and Development</vt:lpstr>
      <vt:lpstr>Main Features of cBioPortal</vt:lpstr>
      <vt:lpstr>Types of Data Available</vt:lpstr>
      <vt:lpstr>How cBioPortal Works</vt:lpstr>
      <vt:lpstr>Understanding OncoPrint</vt:lpstr>
      <vt:lpstr>Clinical Applications</vt:lpstr>
      <vt:lpstr>Research Applications</vt:lpstr>
      <vt:lpstr>Advantages of cBioPortal</vt:lpstr>
      <vt:lpstr>Limitations and Challenges</vt:lpstr>
      <vt:lpstr>Future Scope of cBioPortal</vt:lpstr>
      <vt:lpstr>Conclusion and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Aliza Umar</dc:creator>
  <cp:keywords/>
  <dc:description>generated using python-pptx</dc:description>
  <cp:lastModifiedBy>Aliza Umar</cp:lastModifiedBy>
  <cp:revision>5</cp:revision>
  <dcterms:created xsi:type="dcterms:W3CDTF">2013-01-27T09:14:16Z</dcterms:created>
  <dcterms:modified xsi:type="dcterms:W3CDTF">2026-05-22T17:23:30Z</dcterms:modified>
  <cp:category/>
</cp:coreProperties>
</file>